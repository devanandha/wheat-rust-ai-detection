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97" r:id="rId10"/>
    <p:sldId id="268" r:id="rId11"/>
    <p:sldId id="267" r:id="rId12"/>
    <p:sldId id="269" r:id="rId13"/>
    <p:sldId id="298" r:id="rId14"/>
    <p:sldId id="271" r:id="rId15"/>
    <p:sldId id="290" r:id="rId16"/>
    <p:sldId id="291" r:id="rId17"/>
    <p:sldId id="273" r:id="rId18"/>
    <p:sldId id="274" r:id="rId19"/>
    <p:sldId id="292" r:id="rId20"/>
    <p:sldId id="275" r:id="rId21"/>
    <p:sldId id="276" r:id="rId22"/>
    <p:sldId id="277" r:id="rId23"/>
    <p:sldId id="278" r:id="rId24"/>
    <p:sldId id="293" r:id="rId25"/>
    <p:sldId id="294" r:id="rId26"/>
    <p:sldId id="299" r:id="rId27"/>
    <p:sldId id="280" r:id="rId28"/>
    <p:sldId id="296" r:id="rId29"/>
    <p:sldId id="295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F5A4E-005B-D266-A508-723F3DCEDB70}" v="1696" dt="2026-10-26T15:38:39.243"/>
    <p1510:client id="{70A20BE4-A0E5-361A-B600-259186F1BF40}" v="5" dt="2026-10-27T16:04:55.342"/>
    <p1510:client id="{A6819448-99AC-4C8B-973E-7294C9CA0572}" v="504" dt="2026-10-28T10:36:43.536"/>
    <p1510:client id="{B5385254-21A6-9FB1-AC96-73B2F7941728}" v="2" dt="2026-10-27T06:03:44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6E6FF-7814-45C9-887D-5FFBC4B87326}" type="datetimeFigureOut">
              <a:t>10/28/2026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7526D-5819-4FDD-BAD1-FCBA82E5321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45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anandha-wheat-rust-ai.streamlit.app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5000" cap="all">
                <a:latin typeface="Arial"/>
                <a:cs typeface="Arial"/>
              </a:rPr>
              <a:t>Beyond Accuracy: </a:t>
            </a:r>
            <a:br>
              <a:rPr lang="en-GB" sz="5000" cap="all" dirty="0">
                <a:latin typeface="Arial"/>
                <a:cs typeface="Arial"/>
              </a:rPr>
            </a:br>
            <a:r>
              <a:rPr lang="en-GB" sz="5000" cap="all">
                <a:latin typeface="Arial"/>
                <a:cs typeface="Arial"/>
              </a:rPr>
              <a:t>What Happens When AI Meets Real-World Data?</a:t>
            </a:r>
            <a:endParaRPr lang="en-GB" sz="5000">
              <a:latin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A7993-A39E-834B-921E-83919388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Who Am I?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CBCFD-3ED1-E8BC-A93D-B30FA59A9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43352"/>
            <a:ext cx="9941319" cy="30988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000" b="1" err="1"/>
              <a:t>Devanandha</a:t>
            </a:r>
            <a:r>
              <a:rPr lang="en-GB" sz="2000" b="1"/>
              <a:t> </a:t>
            </a:r>
            <a:r>
              <a:rPr lang="en-GB" sz="2000" b="1" err="1"/>
              <a:t>Vellaramkuzhiyil</a:t>
            </a:r>
            <a:r>
              <a:rPr lang="en-GB" sz="2000" b="1"/>
              <a:t> Shaji</a:t>
            </a:r>
            <a:endParaRPr lang="en-US" sz="2000" b="1"/>
          </a:p>
          <a:p>
            <a:pPr marL="0" indent="0">
              <a:buNone/>
            </a:pPr>
            <a:r>
              <a:rPr lang="en-GB" sz="2000"/>
              <a:t>Amazon Marketplace Consultant – Denman International Ltd., UK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 b="1"/>
              <a:t>Educational Background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/>
              <a:t>MSc in AI – Ulster University, UK</a:t>
            </a:r>
          </a:p>
          <a:p>
            <a:pPr marL="0" indent="0">
              <a:buNone/>
            </a:pPr>
            <a:r>
              <a:rPr lang="en-GB" sz="2000"/>
              <a:t>BSc in Computer Applications [Triple Main] - Mathematics, Statistics and Computer Science – Sacred Heart College, </a:t>
            </a:r>
            <a:r>
              <a:rPr lang="en-GB" sz="2000" err="1"/>
              <a:t>Thevara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71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34531-DCB8-21B7-10F4-DCF3645D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>
                <a:ea typeface="+mj-lt"/>
                <a:cs typeface="+mj-lt"/>
              </a:rPr>
              <a:t>My work spans AI, analytics and software development</a:t>
            </a:r>
            <a:endParaRPr lang="en-US" sz="4800"/>
          </a:p>
          <a:p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A1241-5895-F5B1-F2AB-FD5ABEB52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200" b="1">
                <a:ea typeface="+mn-lt"/>
                <a:cs typeface="+mn-lt"/>
              </a:rPr>
              <a:t>Applied AI &amp; Research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 i="1">
                <a:ea typeface="+mn-lt"/>
                <a:cs typeface="+mn-lt"/>
              </a:rPr>
              <a:t>Wheat Rust AI</a:t>
            </a:r>
            <a:r>
              <a:rPr lang="en-GB" sz="2200">
                <a:ea typeface="+mn-lt"/>
                <a:cs typeface="+mn-lt"/>
              </a:rPr>
              <a:t> — image classification, cross-dataset evaluation and explainability.</a:t>
            </a:r>
            <a:endParaRPr lang="en-GB" sz="2200"/>
          </a:p>
          <a:p>
            <a:r>
              <a:rPr lang="en-GB" sz="2200" b="1">
                <a:ea typeface="+mn-lt"/>
                <a:cs typeface="+mn-lt"/>
              </a:rPr>
              <a:t>Business Intelligence &amp; Analytics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 i="1">
                <a:ea typeface="+mn-lt"/>
                <a:cs typeface="+mn-lt"/>
              </a:rPr>
              <a:t>Amazon PPC Intelligence Hub </a:t>
            </a:r>
            <a:r>
              <a:rPr lang="en-GB" sz="2200">
                <a:ea typeface="+mn-lt"/>
                <a:cs typeface="+mn-lt"/>
              </a:rPr>
              <a:t>and</a:t>
            </a:r>
            <a:r>
              <a:rPr lang="en-GB" sz="2200" b="1" i="1">
                <a:ea typeface="+mn-lt"/>
                <a:cs typeface="+mn-lt"/>
              </a:rPr>
              <a:t> Superstore Business Intelligence</a:t>
            </a:r>
            <a:r>
              <a:rPr lang="en-GB" sz="2200">
                <a:ea typeface="+mn-lt"/>
                <a:cs typeface="+mn-lt"/>
              </a:rPr>
              <a:t> — advertising analysis, data pipelines and reporting.</a:t>
            </a:r>
          </a:p>
          <a:p>
            <a:r>
              <a:rPr lang="en-GB" sz="2200" b="1">
                <a:ea typeface="+mn-lt"/>
                <a:cs typeface="+mn-lt"/>
              </a:rPr>
              <a:t>Software &amp; Community Platforms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 i="1">
                <a:ea typeface="+mn-lt"/>
                <a:cs typeface="+mn-lt"/>
              </a:rPr>
              <a:t>Bloodline RP</a:t>
            </a:r>
            <a:r>
              <a:rPr lang="en-GB" sz="2200">
                <a:ea typeface="+mn-lt"/>
                <a:cs typeface="+mn-lt"/>
              </a:rPr>
              <a:t> — developed and launched a live FiveM roleplay server with custom gameplay systems and an active player community</a:t>
            </a:r>
            <a:r>
              <a:rPr lang="en-GB" sz="2200" b="1">
                <a:ea typeface="+mn-lt"/>
                <a:cs typeface="+mn-lt"/>
              </a:rPr>
              <a:t>.</a:t>
            </a:r>
            <a:endParaRPr lang="en-GB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56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99654-253D-2314-2918-15F79C26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>
                <a:ea typeface="+mj-lt"/>
                <a:cs typeface="+mj-lt"/>
              </a:rPr>
              <a:t>Where the story began: Wheat Rust?</a:t>
            </a:r>
            <a:endParaRPr lang="en-US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B965-5191-62E9-4213-9254C992B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b="1"/>
              <a:t>What is Wheat Rust?</a:t>
            </a:r>
          </a:p>
          <a:p>
            <a:pPr marL="0" indent="0">
              <a:buNone/>
            </a:pPr>
            <a:r>
              <a:rPr lang="en-GB" sz="2400"/>
              <a:t>-A fungal disease affecting wheat!</a:t>
            </a:r>
          </a:p>
          <a:p>
            <a:endParaRPr lang="en-GB" sz="2400" b="1"/>
          </a:p>
          <a:p>
            <a:r>
              <a:rPr lang="en-GB" sz="2400" b="1"/>
              <a:t>Could AI help recognise signs of disease from a leaf image</a:t>
            </a:r>
            <a:r>
              <a:rPr lang="en-GB" sz="2400"/>
              <a:t>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1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4DE40-8E7A-46BC-E63D-09B3FAA2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Wheat Rust?</a:t>
            </a:r>
          </a:p>
        </p:txBody>
      </p:sp>
      <p:pic>
        <p:nvPicPr>
          <p:cNvPr id="3" name="Picture 2" descr="Wheat leaves affected by leaf rust">
            <a:extLst>
              <a:ext uri="{FF2B5EF4-FFF2-40B4-BE49-F238E27FC236}">
                <a16:creationId xmlns:a16="http://schemas.microsoft.com/office/drawing/2014/main" id="{15468D8A-4F9C-E49A-F44F-2E843B428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8" b="-3"/>
          <a:stretch>
            <a:fillRect/>
          </a:stretch>
        </p:blipFill>
        <p:spPr>
          <a:xfrm>
            <a:off x="147080" y="1853936"/>
            <a:ext cx="5803323" cy="3890357"/>
          </a:xfrm>
          <a:prstGeom prst="rect">
            <a:avLst/>
          </a:prstGeom>
        </p:spPr>
      </p:pic>
      <p:pic>
        <p:nvPicPr>
          <p:cNvPr id="4" name="Content Placeholder 3" descr="Green wheat leaf with dew">
            <a:extLst>
              <a:ext uri="{FF2B5EF4-FFF2-40B4-BE49-F238E27FC236}">
                <a16:creationId xmlns:a16="http://schemas.microsoft.com/office/drawing/2014/main" id="{315ED9A5-CF7C-639C-CB9E-6E29E397F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4916" r="1173" b="-3"/>
          <a:stretch>
            <a:fillRect/>
          </a:stretch>
        </p:blipFill>
        <p:spPr>
          <a:xfrm>
            <a:off x="6235426" y="1853164"/>
            <a:ext cx="5803323" cy="38903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4CC595-DB0F-5525-105A-B4BD72D25942}"/>
              </a:ext>
            </a:extLst>
          </p:cNvPr>
          <p:cNvSpPr/>
          <p:nvPr/>
        </p:nvSpPr>
        <p:spPr>
          <a:xfrm>
            <a:off x="836617" y="5911167"/>
            <a:ext cx="3874358" cy="631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Diseased Leaf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AC143-8A0C-2AFE-D5EA-BE1D6166A549}"/>
              </a:ext>
            </a:extLst>
          </p:cNvPr>
          <p:cNvSpPr/>
          <p:nvPr/>
        </p:nvSpPr>
        <p:spPr>
          <a:xfrm>
            <a:off x="6989484" y="5911167"/>
            <a:ext cx="3874358" cy="631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  Healthy </a:t>
            </a:r>
            <a:r>
              <a:rPr lang="en-US"/>
              <a:t>Leaf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5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F6483-81AB-F477-E63C-A5E60E25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/>
              <a:t>One Crop! 3 Types of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93BFA-83C6-D0ED-CA8F-9BC73FFCA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000" b="1"/>
              <a:t>Leaf Rust</a:t>
            </a:r>
            <a:endParaRPr lang="en-US"/>
          </a:p>
          <a:p>
            <a:pPr marL="0" indent="0">
              <a:buNone/>
            </a:pPr>
            <a:r>
              <a:rPr lang="en-US" sz="2000"/>
              <a:t>     Also called </a:t>
            </a:r>
            <a:r>
              <a:rPr lang="en-US" sz="2000" b="1" i="1"/>
              <a:t>Brown Rust</a:t>
            </a:r>
          </a:p>
          <a:p>
            <a:pPr>
              <a:buFont typeface="Calibri" panose="020B0604020202020204" pitchFamily="34" charset="0"/>
              <a:buChar char="-"/>
            </a:pPr>
            <a:endParaRPr lang="en-US" sz="2000"/>
          </a:p>
          <a:p>
            <a:pPr>
              <a:buFont typeface="Calibri" panose="020B0604020202020204" pitchFamily="34" charset="0"/>
              <a:buChar char="-"/>
            </a:pPr>
            <a:r>
              <a:rPr lang="en-US" sz="2000" b="1"/>
              <a:t>Stripe Rust</a:t>
            </a:r>
          </a:p>
          <a:p>
            <a:pPr marL="0" indent="0">
              <a:buNone/>
            </a:pPr>
            <a:r>
              <a:rPr lang="en-US" sz="2000"/>
              <a:t>     Also called </a:t>
            </a:r>
            <a:r>
              <a:rPr lang="en-US" sz="2000" b="1" i="1"/>
              <a:t>Yellow Rust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endParaRPr lang="en-US" sz="2000"/>
          </a:p>
          <a:p>
            <a:pPr>
              <a:buFont typeface="Calibri" panose="020B0604020202020204" pitchFamily="34" charset="0"/>
              <a:buChar char="-"/>
            </a:pPr>
            <a:r>
              <a:rPr lang="en-US" sz="2000" b="1"/>
              <a:t>Stem Rust</a:t>
            </a:r>
          </a:p>
          <a:p>
            <a:pPr marL="0" indent="0">
              <a:buNone/>
            </a:pPr>
            <a:r>
              <a:rPr lang="en-US" sz="2000"/>
              <a:t>     Also called </a:t>
            </a:r>
            <a:r>
              <a:rPr lang="en-US" sz="2000" b="1" i="1" dirty="0"/>
              <a:t>Black Rust</a:t>
            </a:r>
          </a:p>
          <a:p>
            <a:pPr marL="0" indent="0">
              <a:buNone/>
            </a:pPr>
            <a:endParaRPr lang="en-US" sz="2000" b="1" i="1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My classifier focuses on healthy leaves, brown rust and yellow rust.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5446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B60BF-ABF7-3C60-A72B-C0BE0D87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One Crop! 3 Types of Rust</a:t>
            </a:r>
          </a:p>
        </p:txBody>
      </p:sp>
      <p:pic>
        <p:nvPicPr>
          <p:cNvPr id="5" name="Picture 4" descr="Wheat stripe rust">
            <a:extLst>
              <a:ext uri="{FF2B5EF4-FFF2-40B4-BE49-F238E27FC236}">
                <a16:creationId xmlns:a16="http://schemas.microsoft.com/office/drawing/2014/main" id="{933D970A-B3B5-056E-26E3-0A4A451EF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400312" y="2386940"/>
            <a:ext cx="3501835" cy="2541078"/>
          </a:xfrm>
          <a:prstGeom prst="rect">
            <a:avLst/>
          </a:prstGeom>
        </p:spPr>
      </p:pic>
      <p:pic>
        <p:nvPicPr>
          <p:cNvPr id="4" name="Content Placeholder 3" descr="Wheat leaf rust">
            <a:extLst>
              <a:ext uri="{FF2B5EF4-FFF2-40B4-BE49-F238E27FC236}">
                <a16:creationId xmlns:a16="http://schemas.microsoft.com/office/drawing/2014/main" id="{44ABE1D3-BEBA-3DF5-8B7E-3E0A2DE5E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177" y="2382219"/>
            <a:ext cx="3797536" cy="2525361"/>
          </a:xfrm>
          <a:prstGeom prst="rect">
            <a:avLst/>
          </a:prstGeom>
        </p:spPr>
      </p:pic>
      <p:pic>
        <p:nvPicPr>
          <p:cNvPr id="6" name="Picture 5" descr="Wheat stem rust">
            <a:extLst>
              <a:ext uri="{FF2B5EF4-FFF2-40B4-BE49-F238E27FC236}">
                <a16:creationId xmlns:a16="http://schemas.microsoft.com/office/drawing/2014/main" id="{3436EC18-CD66-7161-2299-27E455410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602" y="2386527"/>
            <a:ext cx="3797536" cy="25253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1F1377-345A-1186-C3FE-0E8892082A7A}"/>
              </a:ext>
            </a:extLst>
          </p:cNvPr>
          <p:cNvSpPr/>
          <p:nvPr/>
        </p:nvSpPr>
        <p:spPr>
          <a:xfrm>
            <a:off x="8416215" y="5273826"/>
            <a:ext cx="3470556" cy="58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Yellow Rust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1B308-5115-8411-3933-59BBCE490C38}"/>
              </a:ext>
            </a:extLst>
          </p:cNvPr>
          <p:cNvSpPr/>
          <p:nvPr/>
        </p:nvSpPr>
        <p:spPr>
          <a:xfrm>
            <a:off x="4219527" y="5273825"/>
            <a:ext cx="3754884" cy="58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Black / Stem Rust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A8A2C2-2D42-4A78-9291-B44A35DF9898}"/>
              </a:ext>
            </a:extLst>
          </p:cNvPr>
          <p:cNvSpPr/>
          <p:nvPr/>
        </p:nvSpPr>
        <p:spPr>
          <a:xfrm>
            <a:off x="182065" y="5273826"/>
            <a:ext cx="3754884" cy="58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Brown Rust</a:t>
            </a:r>
          </a:p>
        </p:txBody>
      </p:sp>
    </p:spTree>
    <p:extLst>
      <p:ext uri="{BB962C8B-B14F-4D97-AF65-F5344CB8AC3E}">
        <p14:creationId xmlns:p14="http://schemas.microsoft.com/office/powerpoint/2010/main" val="23010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9FC5E-9F43-E29D-9AA0-646EF2F98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Can you spot the Odd one 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C520-1398-1E0D-2FEF-6299496DD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         🍏 🍏 🍏 🍏 🍎 🍏</a:t>
            </a:r>
            <a:endParaRPr lang="en-US" sz="2400"/>
          </a:p>
          <a:p>
            <a:endParaRPr lang="en-US" sz="2400"/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Anomaly detection</a:t>
            </a:r>
            <a:r>
              <a:rPr lang="en-US" sz="2400"/>
              <a:t> means identifying something that differ from pattern we expect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24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61077-4683-8939-D8DA-9AEEF2B5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Why did I Show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27BB-4A91-0917-7244-5330DB5E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GB" sz="3600"/>
              <a:t>My Wheat Rust Project</a:t>
            </a:r>
          </a:p>
          <a:p>
            <a:pPr>
              <a:buFont typeface="Arial"/>
            </a:pPr>
            <a:r>
              <a:rPr lang="en-GB" sz="2400">
                <a:ea typeface="+mn-lt"/>
                <a:cs typeface="+mn-lt"/>
              </a:rPr>
              <a:t>The model learned from </a:t>
            </a:r>
            <a:r>
              <a:rPr lang="en-GB" sz="2400" b="1">
                <a:ea typeface="+mn-lt"/>
                <a:cs typeface="+mn-lt"/>
              </a:rPr>
              <a:t>healthy leaf images only</a:t>
            </a:r>
            <a:r>
              <a:rPr lang="en-GB" sz="240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GB" sz="2400">
                <a:ea typeface="+mn-lt"/>
                <a:cs typeface="+mn-lt"/>
              </a:rPr>
              <a:t>Instead of asking "Is it Yellow/Brown Rust" for</a:t>
            </a:r>
            <a:r>
              <a:rPr lang="en-GB" sz="2400" dirty="0">
                <a:ea typeface="+mn-lt"/>
                <a:cs typeface="+mn-lt"/>
              </a:rPr>
              <a:t> each new image, it asked: </a:t>
            </a:r>
            <a:r>
              <a:rPr lang="en-GB" sz="2400" b="1" dirty="0">
                <a:ea typeface="+mn-lt"/>
                <a:cs typeface="+mn-lt"/>
              </a:rPr>
              <a:t>“Does this leaf look different?”</a:t>
            </a:r>
            <a:endParaRPr lang="en-GB" sz="2400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GB" sz="2400">
                <a:ea typeface="+mn-lt"/>
                <a:cs typeface="+mn-lt"/>
              </a:rPr>
              <a:t>But lighting, backgrounds and cameras can also cause differences.</a:t>
            </a:r>
          </a:p>
          <a:p>
            <a:pPr marL="0" indent="0">
              <a:buNone/>
            </a:pPr>
            <a:r>
              <a:rPr lang="en-GB" sz="2400" b="1">
                <a:ea typeface="+mn-lt"/>
                <a:cs typeface="+mn-lt"/>
              </a:rPr>
              <a:t>Looking</a:t>
            </a:r>
            <a:r>
              <a:rPr lang="en-GB" sz="2400" b="1" dirty="0">
                <a:ea typeface="+mn-lt"/>
                <a:cs typeface="+mn-lt"/>
              </a:rPr>
              <a:t> Different ≠ Diseased</a:t>
            </a:r>
            <a:endParaRPr lang="en-GB" sz="2400" dirty="0"/>
          </a:p>
          <a:p>
            <a:endParaRPr lang="en-GB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6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CC287-7615-3BCC-1629-3D5BA41A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My </a:t>
            </a:r>
            <a:r>
              <a:rPr lang="en-US" sz="4800" dirty="0" err="1"/>
              <a:t>Msc</a:t>
            </a:r>
            <a:r>
              <a:rPr lang="en-US" sz="4800" dirty="0"/>
              <a:t> Starting Point: Exploring 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C679B-AF7D-1D57-7502-9206F190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During Masters Project, I explored: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Isolation Forest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Autoencoders</a:t>
            </a:r>
          </a:p>
          <a:p>
            <a:r>
              <a:rPr lang="en-US" sz="2000"/>
              <a:t>My Question: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Could unusual image patterns help identify wheat rust?</a:t>
            </a:r>
            <a:endParaRPr lang="en-US" sz="2000"/>
          </a:p>
          <a:p>
            <a:endParaRPr lang="en-US" sz="2000"/>
          </a:p>
          <a:p>
            <a:r>
              <a:rPr lang="en-US" sz="2000"/>
              <a:t>The Challenge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Would the model detect disease—or simply differences in appearance?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41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D6F74-5DB0-CBF5-D311-1F985C7F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/>
              <a:t>Why I revisited the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3754-3F0E-C190-33F4-132CD3788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How the Evaluation Metrics have been calculated?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Some</a:t>
            </a:r>
            <a:r>
              <a:rPr lang="en-US" sz="2400" dirty="0">
                <a:ea typeface="+mn-lt"/>
                <a:cs typeface="+mn-lt"/>
              </a:rPr>
              <a:t> original metric outputs used example labels rather than actual model predictions.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 needed a clearer connection between each image, its true label and the model’s prediction.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This became a priority in my later independent research</a:t>
            </a:r>
            <a:endParaRPr lang="en-US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49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D5692-BB65-4A31-588B-63B96878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Why I revisited the project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E236D-3252-1929-4C26-ABAC33A1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Making the connection between actual image and predicted image become </a:t>
            </a:r>
            <a:r>
              <a:rPr lang="en-US" sz="2400" b="1">
                <a:ea typeface="+mn-lt"/>
                <a:cs typeface="+mn-lt"/>
              </a:rPr>
              <a:t>priority</a:t>
            </a:r>
            <a:r>
              <a:rPr lang="en-US" sz="2400" b="1" dirty="0">
                <a:ea typeface="+mn-lt"/>
                <a:cs typeface="+mn-lt"/>
              </a:rPr>
              <a:t>: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342900" indent="-342900"/>
            <a:r>
              <a:rPr lang="en-US" sz="2400">
                <a:ea typeface="+mn-lt"/>
                <a:cs typeface="+mn-lt"/>
              </a:rPr>
              <a:t>Which</a:t>
            </a:r>
            <a:r>
              <a:rPr lang="en-US" sz="2400" dirty="0"/>
              <a:t> Image was evaluated?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What was its </a:t>
            </a:r>
            <a:r>
              <a:rPr lang="en-US" sz="2400">
                <a:ea typeface="+mn-lt"/>
                <a:cs typeface="+mn-lt"/>
              </a:rPr>
              <a:t>correct</a:t>
            </a:r>
            <a:r>
              <a:rPr lang="en-US" sz="2400" dirty="0">
                <a:ea typeface="+mn-lt"/>
                <a:cs typeface="+mn-lt"/>
              </a:rPr>
              <a:t> label?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What </a:t>
            </a:r>
            <a:r>
              <a:rPr lang="en-US" sz="2400">
                <a:ea typeface="+mn-lt"/>
                <a:cs typeface="+mn-lt"/>
              </a:rPr>
              <a:t>prediction the model produced?</a:t>
            </a:r>
            <a:endParaRPr lang="en-US" sz="2400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69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26578-1917-0C78-1CB6-A94CF6C9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4600">
                <a:ea typeface="+mj-lt"/>
                <a:cs typeface="+mj-lt"/>
              </a:rPr>
              <a:t>Three questions guided my investigation</a:t>
            </a:r>
            <a:endParaRPr lang="en-US" sz="46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E8CB6-8C5B-13B1-47C8-11E6EC31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b="1">
                <a:ea typeface="+mn-lt"/>
                <a:cs typeface="+mn-lt"/>
              </a:rPr>
              <a:t>Evaluation:</a:t>
            </a:r>
            <a:r>
              <a:rPr lang="en-GB" sz="2000">
                <a:ea typeface="+mn-lt"/>
                <a:cs typeface="+mn-lt"/>
              </a:rPr>
              <a:t> Were predictions compared with the correct labels?</a:t>
            </a:r>
            <a:endParaRPr lang="en-GB" sz="2000" b="1">
              <a:ea typeface="+mn-lt"/>
              <a:cs typeface="+mn-lt"/>
            </a:endParaRPr>
          </a:p>
          <a:p>
            <a:r>
              <a:rPr lang="en-GB" sz="2000" b="1">
                <a:ea typeface="+mn-lt"/>
                <a:cs typeface="+mn-lt"/>
              </a:rPr>
              <a:t>Generalisation:</a:t>
            </a:r>
            <a:r>
              <a:rPr lang="en-GB" sz="2000">
                <a:ea typeface="+mn-lt"/>
                <a:cs typeface="+mn-lt"/>
              </a:rPr>
              <a:t> Would the model work on a different dataset?</a:t>
            </a:r>
          </a:p>
          <a:p>
            <a:r>
              <a:rPr lang="en-GB" sz="2000" b="1">
                <a:ea typeface="+mn-lt"/>
                <a:cs typeface="+mn-lt"/>
              </a:rPr>
              <a:t>Explanations:</a:t>
            </a:r>
            <a:r>
              <a:rPr lang="en-GB" sz="2000">
                <a:ea typeface="+mn-lt"/>
                <a:cs typeface="+mn-lt"/>
              </a:rPr>
              <a:t> Which image regions influenced its predictions?</a:t>
            </a:r>
          </a:p>
          <a:p>
            <a:endParaRPr lang="en-GB" sz="2000" b="1"/>
          </a:p>
        </p:txBody>
      </p:sp>
    </p:spTree>
    <p:extLst>
      <p:ext uri="{BB962C8B-B14F-4D97-AF65-F5344CB8AC3E}">
        <p14:creationId xmlns:p14="http://schemas.microsoft.com/office/powerpoint/2010/main" val="235232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038A7-50D1-5738-4F08-1401808C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Teaching the model with labelled examples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00CE-FB5A-117C-A99B-D331F62F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406166"/>
            <a:ext cx="4530898" cy="3832793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Each training image had a label:</a:t>
            </a:r>
            <a:endParaRPr lang="en-US" sz="2000"/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Healthy · Brown rust · Yellow rust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I used MobileNetV2 with transfer learning to build a classifier for these three categories.</a:t>
            </a:r>
            <a:endParaRPr lang="en-US" sz="2000"/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Instead of asking “Is this unusual?”,</a:t>
            </a: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the classifier </a:t>
            </a:r>
            <a:r>
              <a:rPr lang="en-US" sz="2000" b="1" dirty="0" err="1">
                <a:ea typeface="+mn-lt"/>
                <a:cs typeface="+mn-lt"/>
              </a:rPr>
              <a:t>asks</a:t>
            </a:r>
            <a:r>
              <a:rPr lang="en-US" sz="2000" b="1" dirty="0">
                <a:ea typeface="+mn-lt"/>
                <a:cs typeface="+mn-lt"/>
              </a:rPr>
              <a:t> </a:t>
            </a:r>
            <a:endParaRPr lang="en-US" sz="2000">
              <a:ea typeface="+mn-lt"/>
              <a:cs typeface="+mn-lt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“Which category </a:t>
            </a:r>
            <a:r>
              <a:rPr lang="en-US" sz="2000" b="1" dirty="0">
                <a:ea typeface="+mn-lt"/>
                <a:cs typeface="+mn-lt"/>
              </a:rPr>
              <a:t>does this image belong to?”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computer with a plant and text&#10;&#10;AI-generated content may be incorrect.">
            <a:extLst>
              <a:ext uri="{FF2B5EF4-FFF2-40B4-BE49-F238E27FC236}">
                <a16:creationId xmlns:a16="http://schemas.microsoft.com/office/drawing/2014/main" id="{D4D083DE-D71D-FBFB-956C-D3C2AADC4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3311321"/>
            <a:ext cx="5150277" cy="206011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6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AFC47-614F-07BE-C610-E4062DF7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What is transfer learning?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370A7-309C-9C57-7180-7BFB88D80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Start with a pretrained model, then adapt it to a new task.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Pretrained visual features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↓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Training on labelled wheat-leaf images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↓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Three-class prediction</a:t>
            </a:r>
            <a:endParaRPr lang="en-US" sz="2400"/>
          </a:p>
          <a:p>
            <a:pPr marL="0" indent="0">
              <a:buNone/>
            </a:pPr>
            <a:r>
              <a:rPr lang="en-US" sz="2400" b="1"/>
              <a:t>Question: H</a:t>
            </a:r>
            <a:r>
              <a:rPr lang="en-US" sz="2400" b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ow well the adapted model performs on new images?</a:t>
            </a:r>
            <a:endParaRPr lang="en-US" sz="2400" b="1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9448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2215-1F5B-3A80-4054-6C98CDF9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Putting the classifier to the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C95B0-0DD7-430E-98BC-92CD9AE80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Internal validation: </a:t>
            </a:r>
            <a:r>
              <a:rPr lang="en-US" b="1">
                <a:ea typeface="+mn-lt"/>
                <a:cs typeface="+mn-lt"/>
              </a:rPr>
              <a:t>737 images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External evaluation: </a:t>
            </a:r>
            <a:r>
              <a:rPr lang="en-US" b="1">
                <a:ea typeface="+mn-lt"/>
                <a:cs typeface="+mn-lt"/>
              </a:rPr>
              <a:t>489 images</a:t>
            </a:r>
            <a:endParaRPr lang="en-US"/>
          </a:p>
          <a:p>
            <a:pPr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Which classes did it confuse?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AE949-3FBE-D555-A763-5DD5368B1542}"/>
              </a:ext>
            </a:extLst>
          </p:cNvPr>
          <p:cNvSpPr/>
          <p:nvPr/>
        </p:nvSpPr>
        <p:spPr>
          <a:xfrm>
            <a:off x="489719" y="2013983"/>
            <a:ext cx="2563236" cy="836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Evaluation Image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D7CA7-51D8-AA6B-3CAD-98044F8FADA3}"/>
              </a:ext>
            </a:extLst>
          </p:cNvPr>
          <p:cNvSpPr/>
          <p:nvPr/>
        </p:nvSpPr>
        <p:spPr>
          <a:xfrm>
            <a:off x="4190860" y="2013982"/>
            <a:ext cx="3107521" cy="836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Predicted Label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E30E8-763B-1F4D-A6AD-D22B1B6B0B02}"/>
              </a:ext>
            </a:extLst>
          </p:cNvPr>
          <p:cNvSpPr/>
          <p:nvPr/>
        </p:nvSpPr>
        <p:spPr>
          <a:xfrm>
            <a:off x="8230669" y="2013981"/>
            <a:ext cx="3567140" cy="836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Compare with </a:t>
            </a:r>
            <a:r>
              <a:rPr lang="en-US"/>
              <a:t>dataset label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0867C0-E468-35BA-47BE-55CDFF92E35E}"/>
              </a:ext>
            </a:extLst>
          </p:cNvPr>
          <p:cNvCxnSpPr/>
          <p:nvPr/>
        </p:nvCxnSpPr>
        <p:spPr>
          <a:xfrm flipV="1">
            <a:off x="3060083" y="2498320"/>
            <a:ext cx="1019086" cy="7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9B8959-834E-6BC9-DFBB-D6E1886E3FA5}"/>
              </a:ext>
            </a:extLst>
          </p:cNvPr>
          <p:cNvCxnSpPr>
            <a:cxnSpLocks/>
          </p:cNvCxnSpPr>
          <p:nvPr/>
        </p:nvCxnSpPr>
        <p:spPr>
          <a:xfrm>
            <a:off x="7305511" y="2493356"/>
            <a:ext cx="740897" cy="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430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2431F-7AA7-D673-5788-27B16347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Putting the classifier to the 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FA7BCB-869F-A690-B067-649D036B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685" y="2389167"/>
            <a:ext cx="7797903" cy="391733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61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0CE13-55D0-FC88-B6E8-3B71E48A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A promising result—but on which data?</a:t>
            </a:r>
            <a:endParaRPr lang="en-US" sz="37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63609-65D4-2850-F719-3FD7BACD2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98.78%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Internal validation accuracy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728 / 737 images classified correctly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9 misclassifications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Would this performance hold on images from another source?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E54115A6-21CC-EC66-E2F6-17AC742AD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0" r="8970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73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5DC26-0A02-0E51-EB23-8C933FC0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Which classes did it confuse?</a:t>
            </a:r>
            <a:endParaRPr lang="en-US" sz="48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C8CCED-63E9-007A-199E-F8CA9970E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792713"/>
              </p:ext>
            </p:extLst>
          </p:nvPr>
        </p:nvGraphicFramePr>
        <p:xfrm>
          <a:off x="1298880" y="3017519"/>
          <a:ext cx="9589887" cy="320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982">
                  <a:extLst>
                    <a:ext uri="{9D8B030D-6E8A-4147-A177-3AD203B41FA5}">
                      <a16:colId xmlns:a16="http://schemas.microsoft.com/office/drawing/2014/main" val="3660012442"/>
                    </a:ext>
                  </a:extLst>
                </a:gridCol>
                <a:gridCol w="2451453">
                  <a:extLst>
                    <a:ext uri="{9D8B030D-6E8A-4147-A177-3AD203B41FA5}">
                      <a16:colId xmlns:a16="http://schemas.microsoft.com/office/drawing/2014/main" val="1062348789"/>
                    </a:ext>
                  </a:extLst>
                </a:gridCol>
                <a:gridCol w="1905748">
                  <a:extLst>
                    <a:ext uri="{9D8B030D-6E8A-4147-A177-3AD203B41FA5}">
                      <a16:colId xmlns:a16="http://schemas.microsoft.com/office/drawing/2014/main" val="243064459"/>
                    </a:ext>
                  </a:extLst>
                </a:gridCol>
                <a:gridCol w="2494704">
                  <a:extLst>
                    <a:ext uri="{9D8B030D-6E8A-4147-A177-3AD203B41FA5}">
                      <a16:colId xmlns:a16="http://schemas.microsoft.com/office/drawing/2014/main" val="3508641981"/>
                    </a:ext>
                  </a:extLst>
                </a:gridCol>
              </a:tblGrid>
              <a:tr h="1165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Actual ↓ / Predicted →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Brown rust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Healthy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Yellow rust</a:t>
                      </a:r>
                    </a:p>
                  </a:txBody>
                  <a:tcPr marL="159237" marR="159237" marT="79618" marB="79618" anchor="ctr"/>
                </a:tc>
                <a:extLst>
                  <a:ext uri="{0D108BD9-81ED-4DB2-BD59-A6C34878D82A}">
                    <a16:rowId xmlns:a16="http://schemas.microsoft.com/office/drawing/2014/main" val="3480339271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Brown rust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220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 marL="159237" marR="159237" marT="79618" marB="79618" anchor="ctr"/>
                </a:tc>
                <a:extLst>
                  <a:ext uri="{0D108BD9-81ED-4DB2-BD59-A6C34878D82A}">
                    <a16:rowId xmlns:a16="http://schemas.microsoft.com/office/drawing/2014/main" val="1294808057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Healthy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278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</a:p>
                  </a:txBody>
                  <a:tcPr marL="159237" marR="159237" marT="79618" marB="79618" anchor="ctr"/>
                </a:tc>
                <a:extLst>
                  <a:ext uri="{0D108BD9-81ED-4DB2-BD59-A6C34878D82A}">
                    <a16:rowId xmlns:a16="http://schemas.microsoft.com/office/drawing/2014/main" val="1207219412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Yellow rust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</a:p>
                  </a:txBody>
                  <a:tcPr marL="159237" marR="159237" marT="79618" marB="796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230</a:t>
                      </a:r>
                    </a:p>
                  </a:txBody>
                  <a:tcPr marL="159237" marR="159237" marT="79618" marB="79618" anchor="ctr"/>
                </a:tc>
                <a:extLst>
                  <a:ext uri="{0D108BD9-81ED-4DB2-BD59-A6C34878D82A}">
                    <a16:rowId xmlns:a16="http://schemas.microsoft.com/office/drawing/2014/main" val="3914670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522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4679-1316-F70B-2920-C6191100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155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Same disease label. Different photographs.</a:t>
            </a:r>
            <a:endParaRPr lang="en-US"/>
          </a:p>
        </p:txBody>
      </p:sp>
      <p:pic>
        <p:nvPicPr>
          <p:cNvPr id="4" name="Content Placeholder 3" descr="A close up of a plant&#10;&#10;AI-generated content may be incorrect.">
            <a:extLst>
              <a:ext uri="{FF2B5EF4-FFF2-40B4-BE49-F238E27FC236}">
                <a16:creationId xmlns:a16="http://schemas.microsoft.com/office/drawing/2014/main" id="{B45CD5D4-41E3-D6E0-9669-200572088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9899" y="2405179"/>
            <a:ext cx="3008608" cy="3365715"/>
          </a:xfrm>
          <a:prstGeom prst="rect">
            <a:avLst/>
          </a:prstGeom>
        </p:spPr>
      </p:pic>
      <p:pic>
        <p:nvPicPr>
          <p:cNvPr id="5" name="Picture 4" descr="A close up of a plant&#10;&#10;AI-generated content may be incorrect.">
            <a:extLst>
              <a:ext uri="{FF2B5EF4-FFF2-40B4-BE49-F238E27FC236}">
                <a16:creationId xmlns:a16="http://schemas.microsoft.com/office/drawing/2014/main" id="{E1580D01-8BCF-ECB0-5551-F7D130103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23" y="2409947"/>
            <a:ext cx="3038314" cy="33708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499B06-10F4-C18B-2252-103134D65D3C}"/>
              </a:ext>
            </a:extLst>
          </p:cNvPr>
          <p:cNvSpPr/>
          <p:nvPr/>
        </p:nvSpPr>
        <p:spPr>
          <a:xfrm>
            <a:off x="1966997" y="5776261"/>
            <a:ext cx="2981843" cy="793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Org Validation </a:t>
            </a:r>
            <a:r>
              <a:rPr lang="en-US"/>
              <a:t>Dataset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CEE619-3F14-17D2-183B-D4C1C2FFCDFA}"/>
              </a:ext>
            </a:extLst>
          </p:cNvPr>
          <p:cNvSpPr/>
          <p:nvPr/>
        </p:nvSpPr>
        <p:spPr>
          <a:xfrm>
            <a:off x="6096215" y="5776260"/>
            <a:ext cx="2981843" cy="793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External</a:t>
            </a:r>
            <a:r>
              <a:rPr lang="en-US" dirty="0"/>
              <a:t>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C8F05-5FBE-6E86-99D2-31C5B0EA31F1}"/>
              </a:ext>
            </a:extLst>
          </p:cNvPr>
          <p:cNvSpPr txBox="1"/>
          <p:nvPr/>
        </p:nvSpPr>
        <p:spPr>
          <a:xfrm>
            <a:off x="842025" y="1712300"/>
            <a:ext cx="92677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Both labelled </a:t>
            </a:r>
            <a:r>
              <a:rPr lang="en-US" sz="2400" b="1" dirty="0">
                <a:ea typeface="+mn-lt"/>
                <a:cs typeface="+mn-lt"/>
              </a:rPr>
              <a:t>brown rust</a:t>
            </a:r>
            <a:r>
              <a:rPr lang="en-US" sz="2400" dirty="0">
                <a:ea typeface="+mn-lt"/>
                <a:cs typeface="+mn-lt"/>
              </a:rPr>
              <a:t>. Would the model </a:t>
            </a:r>
            <a:r>
              <a:rPr lang="en-US" sz="2400">
                <a:ea typeface="+mn-lt"/>
                <a:cs typeface="+mn-lt"/>
              </a:rPr>
              <a:t>recognize</a:t>
            </a:r>
            <a:r>
              <a:rPr lang="en-US" sz="2400" dirty="0">
                <a:ea typeface="+mn-lt"/>
                <a:cs typeface="+mn-lt"/>
              </a:rPr>
              <a:t> both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0283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F5E59-F8AD-5C98-45B7-0D792A8B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The accuracy did not travel</a:t>
            </a:r>
            <a:endParaRPr lang="en-US" sz="37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C25A-EE3B-B743-332F-FDFA1BB1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98.78% - </a:t>
            </a:r>
            <a:r>
              <a:rPr lang="en-US" sz="2400">
                <a:ea typeface="+mn-lt"/>
                <a:cs typeface="+mn-lt"/>
              </a:rPr>
              <a:t>Internal validation</a:t>
            </a:r>
            <a:endParaRPr lang="en-US" sz="2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 · 737 images</a:t>
            </a:r>
          </a:p>
          <a:p>
            <a:r>
              <a:rPr lang="en-US" sz="2400" b="1">
                <a:ea typeface="+mn-lt"/>
                <a:cs typeface="+mn-lt"/>
              </a:rPr>
              <a:t>38.45% - </a:t>
            </a:r>
            <a:r>
              <a:rPr lang="en-US" sz="2400">
                <a:ea typeface="+mn-lt"/>
                <a:cs typeface="+mn-lt"/>
              </a:rPr>
              <a:t>External evaluation · 489 images</a:t>
            </a: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Only 15 of 239 yellow-rust images were classified correctly.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1D48199A-DDEE-7588-0B0F-D437492660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40" b="-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15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749EF-749E-5C5F-79E6-34C70D52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/>
              <a:t>What changed between the datasets?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01FC-C38D-4AA9-59E5-F85929D30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Possible</a:t>
            </a:r>
            <a:r>
              <a:rPr lang="en-US" sz="2000" b="1" dirty="0">
                <a:ea typeface="+mn-lt"/>
                <a:cs typeface="+mn-lt"/>
              </a:rPr>
              <a:t> differences include: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Lighting and background.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Camera distance and framing.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Disease appearance.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Class proportions and labelling practices.</a:t>
            </a:r>
          </a:p>
          <a:p>
            <a:pPr>
              <a:buFont typeface="Arial"/>
              <a:buChar char="•"/>
            </a:pPr>
            <a:endParaRPr lang="en-US" sz="20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This comparison shows a performance gap; it does not isolate one cause</a:t>
            </a:r>
            <a:r>
              <a:rPr lang="en-US" sz="1900" b="1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239098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8E6B8-DF53-78B9-93C7-D94BFB49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My next question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5EEF1-8602-F788-4AAE-6D95D0CBB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Does changing the dataset gives me a solution?</a:t>
            </a:r>
            <a:endParaRPr lang="en-US" sz="2400"/>
          </a:p>
          <a:p>
            <a:pPr>
              <a:buNone/>
            </a:pPr>
            <a:endParaRPr lang="en-US" sz="2400" b="1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I compared models trained with different source mixtures.</a:t>
            </a:r>
            <a:endParaRPr lang="en-US" sz="2400"/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Could including images from another source improve performance on that source—and would that improvement transfer elsewhere?</a:t>
            </a:r>
            <a:endParaRPr lang="en-US" sz="2400"/>
          </a:p>
          <a:p>
            <a:pPr marL="0" indent="0">
              <a:buNone/>
            </a:pPr>
            <a:endParaRPr lang="en-US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831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0C86C-6863-E964-BED5-222CBF5C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Which sources did I compare?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2373-4172-6710-BD19-D23C77F0E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Original dataset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Healthy, brown rust and yellow rust.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IARI </a:t>
            </a:r>
            <a:r>
              <a:rPr lang="en-US" sz="2400" b="1" dirty="0" err="1">
                <a:ea typeface="+mn-lt"/>
                <a:cs typeface="+mn-lt"/>
              </a:rPr>
              <a:t>WheatLeafRust</a:t>
            </a:r>
            <a:endParaRPr lang="en-US" sz="2400" dirty="0" err="1"/>
          </a:p>
          <a:p>
            <a:r>
              <a:rPr lang="en-US" sz="2400">
                <a:ea typeface="+mn-lt"/>
                <a:cs typeface="+mn-lt"/>
              </a:rPr>
              <a:t>Healthy and brown rust images selected for this study.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Ethiopia subset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Healthy and yellow rust images selected for this study.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82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1AB54-1C42-D335-830B-E50F3777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How I compared the source mixtures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B56C-FFAF-CE7C-CA81-50C3DF499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Include one additional source. Exclude the other.</a:t>
            </a:r>
            <a:endParaRPr lang="en-US" sz="2400"/>
          </a:p>
          <a:p>
            <a:pPr marL="0" indent="0">
              <a:buNone/>
            </a:pPr>
            <a:endParaRPr lang="en-US" sz="2400" b="1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Condition A:</a:t>
            </a:r>
            <a:r>
              <a:rPr lang="en-US" sz="2400">
                <a:ea typeface="+mn-lt"/>
                <a:cs typeface="+mn-lt"/>
              </a:rPr>
              <a:t> Include IARI; exclude Ethiopia.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Condition B:</a:t>
            </a:r>
            <a:r>
              <a:rPr lang="en-US" sz="2400">
                <a:ea typeface="+mn-lt"/>
                <a:cs typeface="+mn-lt"/>
              </a:rPr>
              <a:t> Include Ethiopia; exclude IARI.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Test both models on </a:t>
            </a:r>
            <a:r>
              <a:rPr lang="en-US" sz="2400" b="1">
                <a:ea typeface="+mn-lt"/>
                <a:cs typeface="+mn-lt"/>
              </a:rPr>
              <a:t>separate holdout images from both sources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sz="2400" i="1">
                <a:ea typeface="+mn-lt"/>
                <a:cs typeface="+mn-lt"/>
              </a:rPr>
              <a:t>Holdout images are images kept aside from training.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Repeat with </a:t>
            </a:r>
            <a:r>
              <a:rPr lang="en-US" sz="2400" b="1">
                <a:ea typeface="+mn-lt"/>
                <a:cs typeface="+mn-lt"/>
              </a:rPr>
              <a:t>three random seeds: 42, 43 and 44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558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F95A4-26D6-8DE3-8CB0-630BCF37C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>
                <a:ea typeface="+mj-lt"/>
                <a:cs typeface="+mj-lt"/>
              </a:rPr>
              <a:t>What did I want to find out?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DC21D-C1DF-1A1D-FF9E-374EAE8D5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>
                <a:ea typeface="+mn-lt"/>
                <a:cs typeface="+mn-lt"/>
              </a:rPr>
              <a:t>Did adding a source help on new images from </a:t>
            </a:r>
            <a:r>
              <a:rPr lang="en-GB" sz="2400" b="1">
                <a:ea typeface="+mn-lt"/>
                <a:cs typeface="+mn-lt"/>
              </a:rPr>
              <a:t>that same source</a:t>
            </a:r>
            <a:r>
              <a:rPr lang="en-GB" sz="2400">
                <a:ea typeface="+mn-lt"/>
                <a:cs typeface="+mn-lt"/>
              </a:rPr>
              <a:t>?</a:t>
            </a:r>
            <a:endParaRPr lang="en-GB" sz="2400"/>
          </a:p>
          <a:p>
            <a:r>
              <a:rPr lang="en-GB" sz="2400">
                <a:ea typeface="+mn-lt"/>
                <a:cs typeface="+mn-lt"/>
              </a:rPr>
              <a:t>Did it also help on images from the </a:t>
            </a:r>
            <a:r>
              <a:rPr lang="en-GB" sz="2400" b="1">
                <a:ea typeface="+mn-lt"/>
                <a:cs typeface="+mn-lt"/>
              </a:rPr>
              <a:t>source excluded from training</a:t>
            </a:r>
            <a:r>
              <a:rPr lang="en-GB" sz="2400">
                <a:ea typeface="+mn-lt"/>
                <a:cs typeface="+mn-lt"/>
              </a:rPr>
              <a:t>?</a:t>
            </a:r>
            <a:endParaRPr lang="en-GB" sz="2400"/>
          </a:p>
          <a:p>
            <a:pPr marL="0" indent="0">
              <a:buNone/>
            </a:pPr>
            <a:r>
              <a:rPr lang="en-GB" sz="2400" b="1">
                <a:ea typeface="+mn-lt"/>
                <a:cs typeface="+mn-lt"/>
              </a:rPr>
              <a:t>Example: Adding IARI</a:t>
            </a:r>
            <a:endParaRPr lang="en-GB" sz="2400"/>
          </a:p>
          <a:p>
            <a:r>
              <a:rPr lang="en-GB" sz="2400">
                <a:ea typeface="+mn-lt"/>
                <a:cs typeface="+mn-lt"/>
              </a:rPr>
              <a:t>Improvement on </a:t>
            </a:r>
            <a:r>
              <a:rPr lang="en-GB" sz="2400" b="1">
                <a:ea typeface="+mn-lt"/>
                <a:cs typeface="+mn-lt"/>
              </a:rPr>
              <a:t>IARI only</a:t>
            </a:r>
            <a:r>
              <a:rPr lang="en-GB" sz="2400">
                <a:ea typeface="+mn-lt"/>
                <a:cs typeface="+mn-lt"/>
              </a:rPr>
              <a:t> → suggests a source-specific benefit.</a:t>
            </a:r>
            <a:endParaRPr lang="en-GB" sz="2400"/>
          </a:p>
          <a:p>
            <a:r>
              <a:rPr lang="en-GB" sz="2400">
                <a:ea typeface="+mn-lt"/>
                <a:cs typeface="+mn-lt"/>
              </a:rPr>
              <a:t>Improvement on </a:t>
            </a:r>
            <a:r>
              <a:rPr lang="en-GB" sz="2400" b="1">
                <a:ea typeface="+mn-lt"/>
                <a:cs typeface="+mn-lt"/>
              </a:rPr>
              <a:t>IARI and Ethiopia</a:t>
            </a:r>
            <a:r>
              <a:rPr lang="en-GB" sz="2400">
                <a:ea typeface="+mn-lt"/>
                <a:cs typeface="+mn-lt"/>
              </a:rPr>
              <a:t> → suggests wider transfer.</a:t>
            </a:r>
            <a:endParaRPr lang="en-GB" sz="2400"/>
          </a:p>
          <a:p>
            <a:pPr marL="0" indent="0">
              <a:buNone/>
            </a:pPr>
            <a:r>
              <a:rPr lang="en-GB" sz="2400" i="1">
                <a:ea typeface="+mn-lt"/>
                <a:cs typeface="+mn-lt"/>
              </a:rPr>
              <a:t>Compare improvements against the model trained without the added source.</a:t>
            </a:r>
            <a:endParaRPr lang="en-GB" sz="2400"/>
          </a:p>
          <a:p>
            <a:endParaRPr lang="en-GB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191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EDB0E-B0DB-ECC6-8525-BBF48A55F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Source inclusion changed the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7C29-C939-A719-965C-A85DD9DEE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Accuracy ranges across seeds 42, 43 and 44.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 sz="18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Performance was stronger on the included source. Transfer to the excluded source remained weak or variable.</a:t>
            </a:r>
            <a:endParaRPr lang="en-US" sz="2400" b="1" dirty="0">
              <a:ea typeface="+mn-lt"/>
              <a:cs typeface="+mn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5BABA4-2D3D-D54F-B3A6-98FD268FC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71247"/>
              </p:ext>
            </p:extLst>
          </p:nvPr>
        </p:nvGraphicFramePr>
        <p:xfrm>
          <a:off x="6930493" y="1971023"/>
          <a:ext cx="4223253" cy="29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39">
                  <a:extLst>
                    <a:ext uri="{9D8B030D-6E8A-4147-A177-3AD203B41FA5}">
                      <a16:colId xmlns:a16="http://schemas.microsoft.com/office/drawing/2014/main" val="790535194"/>
                    </a:ext>
                  </a:extLst>
                </a:gridCol>
                <a:gridCol w="1447915">
                  <a:extLst>
                    <a:ext uri="{9D8B030D-6E8A-4147-A177-3AD203B41FA5}">
                      <a16:colId xmlns:a16="http://schemas.microsoft.com/office/drawing/2014/main" val="3021803974"/>
                    </a:ext>
                  </a:extLst>
                </a:gridCol>
                <a:gridCol w="1315199">
                  <a:extLst>
                    <a:ext uri="{9D8B030D-6E8A-4147-A177-3AD203B41FA5}">
                      <a16:colId xmlns:a16="http://schemas.microsoft.com/office/drawing/2014/main" val="2134173350"/>
                    </a:ext>
                  </a:extLst>
                </a:gridCol>
              </a:tblGrid>
              <a:tr h="707090">
                <a:tc>
                  <a:txBody>
                    <a:bodyPr/>
                    <a:lstStyle/>
                    <a:p>
                      <a:r>
                        <a:rPr lang="en-US" sz="1900"/>
                        <a:t>Training Conditions</a:t>
                      </a:r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IARI Evaluation</a:t>
                      </a:r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Ethiopia </a:t>
                      </a:r>
                      <a:r>
                        <a:rPr lang="en-US" sz="1900" err="1"/>
                        <a:t>Evalution</a:t>
                      </a:r>
                    </a:p>
                  </a:txBody>
                  <a:tcPr marL="96874" marR="96874" marT="48438" marB="48438"/>
                </a:tc>
                <a:extLst>
                  <a:ext uri="{0D108BD9-81ED-4DB2-BD59-A6C34878D82A}">
                    <a16:rowId xmlns:a16="http://schemas.microsoft.com/office/drawing/2014/main" val="3035961898"/>
                  </a:ext>
                </a:extLst>
              </a:tr>
              <a:tr h="9920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Added IARI; excluded Ethiopia</a:t>
                      </a:r>
                      <a:endParaRPr lang="en-US" sz="1900"/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75.2–96.1%</a:t>
                      </a:r>
                      <a:endParaRPr lang="en-US" sz="1900"/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4.9–11.5%</a:t>
                      </a:r>
                      <a:endParaRPr lang="en-US" sz="1900"/>
                    </a:p>
                  </a:txBody>
                  <a:tcPr marL="96874" marR="96874" marT="48438" marB="48438"/>
                </a:tc>
                <a:extLst>
                  <a:ext uri="{0D108BD9-81ED-4DB2-BD59-A6C34878D82A}">
                    <a16:rowId xmlns:a16="http://schemas.microsoft.com/office/drawing/2014/main" val="1087140558"/>
                  </a:ext>
                </a:extLst>
              </a:tr>
              <a:tr h="1277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Added Ethiopia; excluded IARI</a:t>
                      </a:r>
                      <a:endParaRPr lang="en-US" sz="1900"/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2.3–54.3%</a:t>
                      </a:r>
                      <a:endParaRPr lang="en-US" sz="1900"/>
                    </a:p>
                  </a:txBody>
                  <a:tcPr marL="96874" marR="96874" marT="48438" marB="4843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latin typeface="Aptos"/>
                        </a:rPr>
                        <a:t>85.2–90.2%</a:t>
                      </a:r>
                      <a:endParaRPr lang="en-US" sz="1900"/>
                    </a:p>
                  </a:txBody>
                  <a:tcPr marL="96874" marR="96874" marT="48438" marB="48438"/>
                </a:tc>
                <a:extLst>
                  <a:ext uri="{0D108BD9-81ED-4DB2-BD59-A6C34878D82A}">
                    <a16:rowId xmlns:a16="http://schemas.microsoft.com/office/drawing/2014/main" val="65911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976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B75E9-E5E6-9F2A-948F-05C31DEF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What do these results tell us?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B3504-FB27-573A-2F41-CE7BC7E11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Stronger performance on included sources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Models performed better on sources represented in training.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Limited transfer to excluded sources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Performance remained weak or varied between runs.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Reliable generalization is still unresolved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Adapting to an included source did not establish reliability elsewhere.</a:t>
            </a:r>
            <a:endParaRPr lang="en-US" sz="2000"/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Limitation:</a:t>
            </a:r>
            <a:r>
              <a:rPr lang="en-US" sz="2000">
                <a:ea typeface="+mn-lt"/>
                <a:cs typeface="+mn-lt"/>
              </a:rPr>
              <a:t> The selected sources contained different class combinations, so photographic differences alone cannot explain the results.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584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85A67-28CE-6710-A059-91CC860F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 confident prediction can still be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0E70-4681-CBB5-D59D-C5E3BF4B3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Confidence and Correctness are </a:t>
            </a:r>
            <a:r>
              <a:rPr lang="en-US" sz="2400" b="1">
                <a:ea typeface="+mn-lt"/>
                <a:cs typeface="+mn-lt"/>
              </a:rPr>
              <a:t>different.</a:t>
            </a: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Dataset</a:t>
            </a:r>
            <a:r>
              <a:rPr lang="en-US" sz="2400" b="1" dirty="0">
                <a:ea typeface="+mn-lt"/>
                <a:cs typeface="+mn-lt"/>
              </a:rPr>
              <a:t> label: Brown rust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Prediction: Healthy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Model confidence: 99.99%</a:t>
            </a:r>
            <a:endParaRPr lang="en-US" sz="2400"/>
          </a:p>
          <a:p>
            <a:pPr marL="0" indent="0">
              <a:buNone/>
            </a:pPr>
            <a:endParaRPr lang="en-US" sz="2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High confidence does not guarantee a correct prediction.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732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6CB1-E8C8-4751-B6A6-46B2D1E72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B42F9-A57A-FA6F-EC01-CBD6EB0D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What did the model focus on?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0C0D1-E79A-41FF-8322-256F6DD1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wheat field&#10;&#10;AI-generated content may be incorrect.">
            <a:extLst>
              <a:ext uri="{FF2B5EF4-FFF2-40B4-BE49-F238E27FC236}">
                <a16:creationId xmlns:a16="http://schemas.microsoft.com/office/drawing/2014/main" id="{49A1B5E3-E4D1-011D-1553-79F5D059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43" r="-2" b="10001"/>
          <a:stretch>
            <a:fillRect/>
          </a:stretch>
        </p:blipFill>
        <p:spPr>
          <a:xfrm>
            <a:off x="429767" y="1528193"/>
            <a:ext cx="3419856" cy="4520560"/>
          </a:xfrm>
          <a:prstGeom prst="rect">
            <a:avLst/>
          </a:prstGeom>
        </p:spPr>
      </p:pic>
      <p:pic>
        <p:nvPicPr>
          <p:cNvPr id="5" name="Picture 4" descr="A close up of a wheat field&#10;&#10;AI-generated content may be incorrect.">
            <a:extLst>
              <a:ext uri="{FF2B5EF4-FFF2-40B4-BE49-F238E27FC236}">
                <a16:creationId xmlns:a16="http://schemas.microsoft.com/office/drawing/2014/main" id="{E17CE2FB-F5C1-3562-D521-D5B7E1DC3D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00" r="2" b="13063"/>
          <a:stretch>
            <a:fillRect/>
          </a:stretch>
        </p:blipFill>
        <p:spPr>
          <a:xfrm>
            <a:off x="4291413" y="1528193"/>
            <a:ext cx="3420596" cy="452056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95FA420-5595-49D1-9D5F-79EC43B5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4648" y="1721922"/>
            <a:ext cx="3609143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1C6C-71A6-D568-9D64-B94E2D9E4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348" y="2020824"/>
            <a:ext cx="3229015" cy="400484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15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Dataset label:</a:t>
            </a:r>
            <a:r>
              <a:rPr lang="en-US" sz="2000">
                <a:ea typeface="+mn-lt"/>
                <a:cs typeface="+mn-lt"/>
              </a:rPr>
              <a:t> Brown rust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Model prediction</a:t>
            </a:r>
            <a:r>
              <a:rPr lang="en-US" sz="2000">
                <a:ea typeface="+mn-lt"/>
                <a:cs typeface="+mn-lt"/>
              </a:rPr>
              <a:t>: Healthy</a:t>
            </a:r>
            <a:endParaRPr lang="en-US" sz="1500" b="1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Grad-CAM highlights regions associated with a selected class score.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A heatmap can help investigate a prediction. It canno</a:t>
            </a:r>
            <a:r>
              <a:rPr lang="en-US" sz="1800" b="1">
                <a:ea typeface="+mn-lt"/>
                <a:cs typeface="+mn-lt"/>
              </a:rPr>
              <a:t>t prove the prediction is correct.</a:t>
            </a:r>
            <a:endParaRPr lang="en-US" sz="1800"/>
          </a:p>
          <a:p>
            <a:endParaRPr lang="en-US" sz="15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5FB5F-941D-B8F7-8757-B4F2B4479EAF}"/>
              </a:ext>
            </a:extLst>
          </p:cNvPr>
          <p:cNvSpPr/>
          <p:nvPr/>
        </p:nvSpPr>
        <p:spPr>
          <a:xfrm>
            <a:off x="697054" y="6176675"/>
            <a:ext cx="2381602" cy="445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Org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1FB33-271E-69D4-F3F8-DC293EE123AD}"/>
              </a:ext>
            </a:extLst>
          </p:cNvPr>
          <p:cNvSpPr/>
          <p:nvPr/>
        </p:nvSpPr>
        <p:spPr>
          <a:xfrm>
            <a:off x="4287494" y="6241251"/>
            <a:ext cx="2381602" cy="445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GRAD-CAM Overlay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20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CB1DC-D910-4C45-0EFB-94B59D14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 heatmap is a clue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4C2A-0630-2EF8-755B-93236704A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A highlighted region does not establish that the model learned disease-specific features.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Stronger checks include: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Comparing highlighted regions with expert annotations.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Testing whether masking them changes predictions.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Comparing those changes with random masking.</a:t>
            </a:r>
            <a:endParaRPr lang="en-US" sz="2000"/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Explanation also needs evaluation.</a:t>
            </a:r>
            <a:endParaRPr lang="en-US" sz="2000"/>
          </a:p>
          <a:p>
            <a:endParaRPr lang="en-US" sz="20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062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2A7A8-A39E-BBB2-EB57-B83C8CD4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Let’s try the research demo</a:t>
            </a:r>
            <a:endParaRPr lang="en-US" sz="5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33472-7361-C8EC-CDA2-240B49DB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Upload → Predict → Inspect</a:t>
            </a:r>
            <a:endParaRPr lang="en-US" sz="2200"/>
          </a:p>
          <a:p>
            <a:pPr marL="0" indent="0">
              <a:buNone/>
            </a:pPr>
            <a:endParaRPr lang="en-US" sz="2200" b="1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Would you trust the prediction?</a:t>
            </a:r>
            <a:endParaRPr lang="en-US" sz="2200"/>
          </a:p>
          <a:p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What evidence would you need?</a:t>
            </a:r>
            <a:endParaRPr lang="en-US" sz="2200"/>
          </a:p>
          <a:p>
            <a:endParaRPr lang="en-US" sz="2200">
              <a:ea typeface="+mn-lt"/>
              <a:cs typeface="+mn-lt"/>
            </a:endParaRPr>
          </a:p>
          <a:p>
            <a:r>
              <a:rPr lang="en-US" sz="2200" b="1">
                <a:ea typeface="+mn-lt"/>
                <a:cs typeface="+mn-lt"/>
              </a:rPr>
              <a:t>Try the demo:</a:t>
            </a:r>
            <a:endParaRPr lang="en-US" sz="220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  <a:hlinkClick r:id="rId2"/>
              </a:rPr>
              <a:t>devanandha-wheat-rust-ai.streamlit.app</a:t>
            </a:r>
            <a:endParaRPr lang="en-US" sz="2200" dirty="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45718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F9AB7-AB21-74D5-4B80-D33EBC5C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What this project taught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E3A65-7CA2-1AE8-C8DB-A0D4E1014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Ask where the score came from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 Strong internal validation performance may not carry over to another dataset.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Inspect the failures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 Overall accuracy can hide serious weaknesses in individual classes.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Question the explanation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 A convincing heatmap does not prove the prediction is correct.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Evaluate beyond the data used for development.</a:t>
            </a:r>
            <a:endParaRPr lang="en-US" sz="20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917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B9C0-7950-40B5-7681-17698FA1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contribution—and where I’m taking it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4CD5A-F964-05F3-B282-7FBE3ED8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Built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A wheat-rust classifier and interactive research demo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Investigated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Cross-dataset performance, training-source composition and visual explanations.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Documented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Code, experimental results and failure cases for others to inspect.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Next research priority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 More reliable </a:t>
            </a:r>
            <a:r>
              <a:rPr lang="en-US">
                <a:ea typeface="+mn-lt"/>
                <a:cs typeface="+mn-lt"/>
              </a:rPr>
              <a:t>generalization</a:t>
            </a:r>
            <a:r>
              <a:rPr lang="en-US" dirty="0">
                <a:ea typeface="+mn-lt"/>
                <a:cs typeface="+mn-lt"/>
              </a:rPr>
              <a:t>, supported by broader independent evaluation and stronger explanation checks.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00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BFE0-10D8-C4C4-12F4-34EAB6BC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Explore the Research in GitHub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5B38-B6B2-3094-9882-AE8CAEF36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GitHub</a:t>
            </a:r>
          </a:p>
          <a:p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701B50FE-DC38-BB52-07D2-BA0F6D9C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18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5F12-4AF7-8D5C-2D89-AB17B605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 With Me on LinkedIn</a:t>
            </a:r>
          </a:p>
        </p:txBody>
      </p:sp>
      <p:pic>
        <p:nvPicPr>
          <p:cNvPr id="4" name="Content Placeholder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C318DAB1-3C8A-B128-D2A6-FB43C4FD5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875" y="1858169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21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9A039-AC38-C3AC-1B2C-739887C0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>
                <a:ea typeface="+mj-lt"/>
                <a:cs typeface="+mj-lt"/>
              </a:rPr>
              <a:t>Would you trust this model?</a:t>
            </a:r>
            <a:endParaRPr lang="en-US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6350-062F-A548-17CC-DC9ACF51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98.78% internal validation accuracy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38.45% external evaluation accuracy</a:t>
            </a:r>
            <a:endParaRPr lang="en-US" sz="2000"/>
          </a:p>
          <a:p>
            <a:endParaRPr lang="en-US" sz="20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What would you investigate first?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A</a:t>
            </a:r>
            <a:r>
              <a:rPr lang="en-US" sz="2000">
                <a:ea typeface="+mn-lt"/>
                <a:cs typeface="+mn-lt"/>
              </a:rPr>
              <a:t> — The data and labels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B</a:t>
            </a:r>
            <a:r>
              <a:rPr lang="en-US" sz="2000">
                <a:ea typeface="+mn-lt"/>
                <a:cs typeface="+mn-lt"/>
              </a:rPr>
              <a:t> — The model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C</a:t>
            </a:r>
            <a:r>
              <a:rPr lang="en-US" sz="2000">
                <a:ea typeface="+mn-lt"/>
                <a:cs typeface="+mn-lt"/>
              </a:rPr>
              <a:t> — The evaluation setup</a:t>
            </a:r>
            <a:endParaRPr lang="en-US" sz="2000"/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Questions, challenges and ideas welcome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1854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37</Slides>
  <Notes>25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Beyond Accuracy:  What Happens When AI Meets Real-World Data?</vt:lpstr>
      <vt:lpstr>Who Am I?</vt:lpstr>
      <vt:lpstr>My work spans AI, analytics and software development </vt:lpstr>
      <vt:lpstr>Where the story began: Wheat Rust?</vt:lpstr>
      <vt:lpstr>Wheat Rust?</vt:lpstr>
      <vt:lpstr>One Crop! 3 Types of Rust</vt:lpstr>
      <vt:lpstr>One Crop! 3 Types of Rust</vt:lpstr>
      <vt:lpstr>Can you spot the Odd one out?</vt:lpstr>
      <vt:lpstr>Why did I Show this?</vt:lpstr>
      <vt:lpstr>My Msc Starting Point: Exploring Anomaly Detection</vt:lpstr>
      <vt:lpstr>Why I revisited the evaluation</vt:lpstr>
      <vt:lpstr>Why I revisited the project</vt:lpstr>
      <vt:lpstr>Three questions guided my investigation</vt:lpstr>
      <vt:lpstr>Teaching the model with labelled examples</vt:lpstr>
      <vt:lpstr>What is transfer learning?</vt:lpstr>
      <vt:lpstr>Putting the classifier to the test</vt:lpstr>
      <vt:lpstr>Putting the classifier to the test</vt:lpstr>
      <vt:lpstr>A promising result—but on which data?</vt:lpstr>
      <vt:lpstr>Which classes did it confuse?</vt:lpstr>
      <vt:lpstr>Same disease label. Different photographs.</vt:lpstr>
      <vt:lpstr>The accuracy did not travel</vt:lpstr>
      <vt:lpstr>What changed between the datasets?</vt:lpstr>
      <vt:lpstr>My next question</vt:lpstr>
      <vt:lpstr>Which sources did I compare?</vt:lpstr>
      <vt:lpstr>How I compared the source mixtures</vt:lpstr>
      <vt:lpstr>What did I want to find out?</vt:lpstr>
      <vt:lpstr>Source inclusion changed the results</vt:lpstr>
      <vt:lpstr>What do these results tell us?</vt:lpstr>
      <vt:lpstr>A confident prediction can still be wrong</vt:lpstr>
      <vt:lpstr>What did the model focus on?</vt:lpstr>
      <vt:lpstr>A heatmap is a clue</vt:lpstr>
      <vt:lpstr>Let’s try the research demo</vt:lpstr>
      <vt:lpstr>What this project taught me</vt:lpstr>
      <vt:lpstr>My contribution—and where I’m taking it next</vt:lpstr>
      <vt:lpstr>Explore the Research in GitHub</vt:lpstr>
      <vt:lpstr>Connect With Me on LinkedIn</vt:lpstr>
      <vt:lpstr>Would you trust this model?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1418</cp:revision>
  <dcterms:created xsi:type="dcterms:W3CDTF">2013-07-15T20:26:40Z</dcterms:created>
  <dcterms:modified xsi:type="dcterms:W3CDTF">2026-10-28T10:46:06Z</dcterms:modified>
</cp:coreProperties>
</file>